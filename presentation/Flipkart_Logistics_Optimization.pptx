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🚚 Logistics Optimization for Delivery Routes</a:t>
            </a:r>
          </a:p>
          <a:p>
            <a:pPr>
              <a:spcBef>
                <a:spcPts val="1000"/>
              </a:spcBef>
              <a:defRPr sz="2000">
                <a:solidFill>
                  <a:srgbClr val="FFE600"/>
                </a:solidFill>
              </a:defRPr>
            </a:pPr>
            <a:r>
              <a:t>Flipkart Supply Chain Performance &amp; Warehouse Analytics (Ekart)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114800"/>
            <a:ext cx="9966960" cy="1828800"/>
          </a:xfrm>
          <a:prstGeom prst="roundRect">
            <a:avLst/>
          </a:prstGeom>
          <a:solidFill>
            <a:srgbClr val="1E2D46"/>
          </a:solidFill>
          <a:ln>
            <a:solidFill>
              <a:srgbClr val="287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Author: Sujal Agrahari | Internshala Data Science Training Program</a:t>
            </a:r>
          </a:p>
          <a:p>
            <a:pPr>
              <a:spcBef>
                <a:spcPts val="600"/>
              </a:spcBef>
              <a:defRPr sz="1200">
                <a:solidFill>
                  <a:srgbClr val="C8D7EB"/>
                </a:solidFill>
              </a:defRPr>
            </a:pPr>
            <a:r>
              <a:t>Technology Stack: MySQL 8.0, Advanced SQL (CTEs, Window Functions, Subqueries), Python Analytics Pipeline</a:t>
            </a:r>
          </a:p>
          <a:p>
            <a:pPr>
              <a:spcBef>
                <a:spcPts val="600"/>
              </a:spcBef>
              <a:defRPr sz="1200">
                <a:solidFill>
                  <a:srgbClr val="FFE600"/>
                </a:solidFill>
              </a:defRPr>
            </a:pPr>
            <a:r>
              <a:t>Video Walkthrough: https://www.loom.com/share/519a939ef711457d970e77f466b2729b (Part 1 &amp;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74F0"/>
                </a:solidFill>
              </a:defRPr>
            </a:pPr>
            <a:r>
              <a:t>FLIPKART LOGISTICS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337"/>
                </a:solidFill>
              </a:defRPr>
            </a:pPr>
            <a:r>
              <a:t>Project Overview &amp; Core Business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2337"/>
                </a:solidFill>
              </a:defRPr>
            </a:pPr>
            <a:r>
              <a:t>Business Context (Flipkart Logistics)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Ekart operates a pan-India fulfillment network comprising regional sorting hubs, mother warehouses, and last-mile delivery partners.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Rising order volume during festive sales triggers severe route bottlenecks, traffic delays, and fulfillment capacity constraints.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Challenge 1: Pinpoint the root causes of transit delays (hub processing vs in-transit congestion).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Challenge 2: Optimize delivery corridors based on distance-to-time efficiency ratios.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Challenge 3: Quantify delivery agent productivity and workload balance.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2337"/>
                </a:solidFill>
              </a:defRPr>
            </a:pPr>
            <a:r>
              <a:t>Evaluation Scope &amp; Rubric Tasks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Task 1: Data Cleaning &amp; Validation (Duplicates, Imputation, Date formats) [10M]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Task 2: Delivery Delay Analysis (Delay Days, Top 10 Routes, Window Ranking) [10M]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Task 3: Route Optimization Insights (Efficiency Ratio, &gt;20% Late Corridors) [20M]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Task 4: Warehouse Throughput (Highest Processing Time, CTE Bottlenecks) [10M]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Task 5: Delivery Agent Performance (Subqueries: Top 5 vs Bottom 5 speed) [10M]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Task 6: Shipment Tracking Analytics (Latest Checkpoints, Root Causes) [10M]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Task 7: Advanced KPI Reporting (Regional Delays, On-Time Rate %, Traffic) [10M]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Task 8 &amp; 9: Presentation &amp; Walkthrough Video Delivery [20M]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74F0"/>
                </a:solidFill>
              </a:defRPr>
            </a:pPr>
            <a:r>
              <a:t>FLIPKART LOGISTICS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337"/>
                </a:solidFill>
              </a:defRPr>
            </a:pPr>
            <a:r>
              <a:t>Task 1: Data Cleaning &amp; Preparation (10 Marks)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217920" cy="4937760"/>
          </a:xfrm>
          <a:prstGeom prst="roundRect">
            <a:avLst/>
          </a:prstGeom>
          <a:solidFill>
            <a:srgbClr val="1E232D"/>
          </a:solidFill>
          <a:ln>
            <a:solidFill>
              <a:srgbClr val="32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943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E6F0FF"/>
                </a:solidFill>
                <a:latin typeface="Consolas"/>
              </a:defRPr>
            </a:pPr>
            <a:r>
              <a:t>-- 1. Identify and delete duplicate Order_ID records</a:t>
            </a:r>
            <a:br/>
            <a:r>
              <a:t>SELECT Order_ID, COUNT(*) AS count </a:t>
            </a:r>
            <a:br/>
            <a:r>
              <a:t>FROM flipkart_orders GROUP BY Order_ID HAVING count &gt; 1;</a:t>
            </a:r>
            <a:br/>
            <a:br/>
            <a:r>
              <a:t>-- 2. Replace null Traffic_Delay_Min with route average delay</a:t>
            </a:r>
            <a:br/>
            <a:r>
              <a:t>UPDATE flipkart_routes r </a:t>
            </a:r>
            <a:br/>
            <a:r>
              <a:t>JOIN (SELECT Route_ID, AVG(Traffic_Delay_Min) AS avg_delay </a:t>
            </a:r>
            <a:br/>
            <a:r>
              <a:t>      FROM flipkart_routes GROUP BY Route_ID) t </a:t>
            </a:r>
            <a:br/>
            <a:r>
              <a:t>ON r.Route_ID = t.Route_ID </a:t>
            </a:r>
            <a:br/>
            <a:r>
              <a:t>SET r.Traffic_Delay_Min = COALESCE(t.avg_delay, 50)</a:t>
            </a:r>
            <a:br/>
            <a:r>
              <a:t>WHERE r.Traffic_Delay_Min IS NULL;</a:t>
            </a:r>
            <a:br/>
            <a:br/>
            <a:r>
              <a:t>-- 3. Convert all date columns into YYYY-MM-DD format</a:t>
            </a:r>
            <a:br/>
            <a:r>
              <a:t>UPDATE flipkart_orders SET order_date = STR_TO_DATE(order_date, '%d-%m-%Y');</a:t>
            </a:r>
            <a:br/>
            <a:r>
              <a:t>UPDATE flipkart_orders SET Expected_Delivery_Date = STR_TO_DATE(Expected_Delivery_Date, '%d-%m-%Y');</a:t>
            </a:r>
            <a:br/>
            <a:r>
              <a:t>UPDATE flipkart_orders SET Actual_Delivery_Date = STR_TO_DATE(Actual_Delivery_Date, '%d-%m-%Y');</a:t>
            </a:r>
            <a:br/>
            <a:br/>
            <a:r>
              <a:t>-- 4. Flag invalid delivery records (Actual &lt; Order Date)</a:t>
            </a:r>
            <a:br/>
            <a:r>
              <a:t>SELECT Order_ID, Actual_Delivery_Date, Order_Date,</a:t>
            </a:r>
            <a:br/>
            <a:r>
              <a:t>       CASE WHEN Actual_Delivery_Date &lt; Order_Date THEN 'Invalid' ELSE 'Valid' END AS flag</a:t>
            </a:r>
            <a:br/>
            <a:r>
              <a:t>FROM flipkart_orders;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80160"/>
            <a:ext cx="4114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1417320"/>
            <a:ext cx="3749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2337"/>
                </a:solidFill>
              </a:defRPr>
            </a:pPr>
            <a:r>
              <a:t>Validation Outcomes &amp; Insights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✓ Duplicate Verification: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- 0 duplicate Order_IDs found. Strict primary key uniqueness maintained (300 orders).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✓ Safe Imputation Applied: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Null traffic delays imputed using route average with global fallback to prevent bias.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✓ Chronological Standardization: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Converted dates to standard MySQL DATE format (YYYY-MM-DD).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Standardized checkpoint scan timestamps to DATETIME to avoid text sorting bugs.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✓ Delivery Timeline Integrity: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- 100% of orders valid (zero anomalies where Actual Delivery preceded Order Date).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74F0"/>
                </a:solidFill>
              </a:defRPr>
            </a:pPr>
            <a:r>
              <a:t>FLIPKART LOGISTICS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337"/>
                </a:solidFill>
              </a:defRPr>
            </a:pPr>
            <a:r>
              <a:t>Task 2: Delivery Delay Analysis (10 Marks)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1E232D"/>
          </a:solidFill>
          <a:ln>
            <a:solidFill>
              <a:srgbClr val="32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E6F0FF"/>
                </a:solidFill>
                <a:latin typeface="Consolas"/>
              </a:defRPr>
            </a:pPr>
            <a:r>
              <a:t>-- Calculate delivery delay (in days) for each order</a:t>
            </a:r>
            <a:br/>
            <a:r>
              <a:t>SELECT Order_ID, </a:t>
            </a:r>
            <a:br/>
            <a:r>
              <a:t>       DATEDIFF(Actual_Delivery_Date, Expected_Delivery_Date) AS delivery_delay </a:t>
            </a:r>
            <a:br/>
            <a:r>
              <a:t>FROM flipkart_orders;</a:t>
            </a:r>
            <a:br/>
            <a:br/>
            <a:r>
              <a:t>-- Top 10 delayed routes based on average delay days</a:t>
            </a:r>
            <a:br/>
            <a:r>
              <a:t>SELECT Route_ID, </a:t>
            </a:r>
            <a:br/>
            <a:r>
              <a:t>       ROUND(AVG(DATEDIFF(Actual_Delivery_Date, Expected_Delivery_Date)), 2) AS avg_delay </a:t>
            </a:r>
            <a:br/>
            <a:r>
              <a:t>FROM flipkart_orders </a:t>
            </a:r>
            <a:br/>
            <a:r>
              <a:t>GROUP BY Route_ID </a:t>
            </a:r>
            <a:br/>
            <a:r>
              <a:t>ORDER BY avg_delay DESC LIMIT 10;</a:t>
            </a:r>
            <a:br/>
            <a:br/>
            <a:r>
              <a:t>-- Window function: Rank all orders by delay within each warehouse</a:t>
            </a:r>
            <a:br/>
            <a:r>
              <a:t>SELECT Order_ID, Warehouse_ID, </a:t>
            </a:r>
            <a:br/>
            <a:r>
              <a:t>       DATEDIFF(Actual_Delivery_Date, Expected_Delivery_Date) AS delivery_delay,</a:t>
            </a:r>
            <a:br/>
            <a:r>
              <a:t>       RANK() OVER (PARTITION BY Warehouse_ID </a:t>
            </a:r>
            <a:br/>
            <a:r>
              <a:t>                    ORDER BY DATEDIFF(Actual_Delivery_Date, Expected_Delivery_Date) DESC) AS wh_rank </a:t>
            </a:r>
            <a:br/>
            <a:r>
              <a:t>FROM flipkart_orders;</a:t>
            </a:r>
          </a:p>
        </p:txBody>
      </p:sp>
      <p:pic>
        <p:nvPicPr>
          <p:cNvPr id="7" name="Picture 6" descr="01_top_delayed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27930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74F0"/>
                </a:solidFill>
              </a:defRPr>
            </a:pPr>
            <a:r>
              <a:t>FLIPKART LOGISTICS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337"/>
                </a:solidFill>
              </a:defRPr>
            </a:pPr>
            <a:r>
              <a:t>Task 3: Route Optimization Insights (20 Marks)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1E232D"/>
          </a:solidFill>
          <a:ln>
            <a:solidFill>
              <a:srgbClr val="32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E6F0FF"/>
                </a:solidFill>
                <a:latin typeface="Consolas"/>
              </a:defRPr>
            </a:pPr>
            <a:r>
              <a:t>-- Route performance: Delivery time, Traffic delay, Efficiency Ratio</a:t>
            </a:r>
            <a:br/>
            <a:r>
              <a:t>SELECT r.Route_ID,</a:t>
            </a:r>
            <a:br/>
            <a:r>
              <a:t>       ROUND(AVG(DATEDIFF(o.Actual_Delivery_Date, o.Order_Date)), 2) AS avg_delivery_time,</a:t>
            </a:r>
            <a:br/>
            <a:r>
              <a:t>       ROUND(AVG(r.Traffic_Delay_Min), 2) AS avg_traffic_delay,</a:t>
            </a:r>
            <a:br/>
            <a:r>
              <a:t>       ROUND(AVG(r.Distance_KM / r.Average_Travel_Time_Min), 3) AS efficiency_ratio </a:t>
            </a:r>
            <a:br/>
            <a:r>
              <a:t>FROM flipkart_orders o </a:t>
            </a:r>
            <a:br/>
            <a:r>
              <a:t>JOIN flipkart_routes r ON r.Route_ID = o.Route_ID </a:t>
            </a:r>
            <a:br/>
            <a:r>
              <a:t>GROUP BY r.Route_ID;</a:t>
            </a:r>
            <a:br/>
            <a:br/>
            <a:r>
              <a:t>-- 3 routes with worst efficiency ratio</a:t>
            </a:r>
            <a:br/>
            <a:r>
              <a:t>SELECT Route_ID, ROUND(AVG(Distance_KM / Average_Travel_Time_Min), 3) AS ratio</a:t>
            </a:r>
            <a:br/>
            <a:r>
              <a:t>FROM flipkart_routes GROUP BY Route_ID ORDER BY ratio ASC LIMIT 3;</a:t>
            </a:r>
            <a:br/>
            <a:br/>
            <a:r>
              <a:t>-- Routes with &gt;20% delayed shipments</a:t>
            </a:r>
            <a:br/>
            <a:r>
              <a:t>SELECT Route_ID, </a:t>
            </a:r>
            <a:br/>
            <a:r>
              <a:t>       ROUND(COUNT(CASE WHEN Actual_Delivery_Date &gt; Expected_Delivery_Date THEN 1 END) * 100.0 / COUNT(*), 2) AS delay_pct</a:t>
            </a:r>
            <a:br/>
            <a:r>
              <a:t>FROM flipkart_orders GROUP BY Route_ID HAVING delay_pct &gt; 20;</a:t>
            </a:r>
          </a:p>
        </p:txBody>
      </p:sp>
      <p:pic>
        <p:nvPicPr>
          <p:cNvPr id="7" name="Picture 6" descr="04_route_efficiency_vs_traf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74F0"/>
                </a:solidFill>
              </a:defRPr>
            </a:pPr>
            <a:r>
              <a:t>FLIPKART LOGISTICS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337"/>
                </a:solidFill>
              </a:defRPr>
            </a:pPr>
            <a:r>
              <a:t>Task 4: Warehouse Performance &amp; Bottleneck Analysis (10 Marks)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1E232D"/>
          </a:solidFill>
          <a:ln>
            <a:solidFill>
              <a:srgbClr val="32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E6F0FF"/>
                </a:solidFill>
                <a:latin typeface="Consolas"/>
              </a:defRPr>
            </a:pPr>
            <a:r>
              <a:t>-- Top 3 warehouses with highest average processing time</a:t>
            </a:r>
            <a:br/>
            <a:r>
              <a:t>SELECT Warehouse_ID, Warehouse_Name, Average_Processing_Time_Min </a:t>
            </a:r>
            <a:br/>
            <a:r>
              <a:t>FROM flipkart_warehouses ORDER BY Average_Processing_Time_Min DESC LIMIT 3;</a:t>
            </a:r>
            <a:br/>
            <a:br/>
            <a:r>
              <a:t>-- Total vs delayed shipments per warehouse</a:t>
            </a:r>
            <a:br/>
            <a:r>
              <a:t>SELECT Warehouse_ID, COUNT(*) AS Total,</a:t>
            </a:r>
            <a:br/>
            <a:r>
              <a:t>       COUNT(CASE WHEN Actual_Delivery_Date &gt; Expected_Delivery_Date THEN 1 END) AS Delayed </a:t>
            </a:r>
            <a:br/>
            <a:r>
              <a:t>FROM flipkart_orders GROUP BY Warehouse_ID;</a:t>
            </a:r>
            <a:br/>
            <a:br/>
            <a:r>
              <a:t>-- CTE: Bottleneck warehouses exceeding global average</a:t>
            </a:r>
            <a:br/>
            <a:r>
              <a:t>WITH Avg_Processing AS (</a:t>
            </a:r>
            <a:br/>
            <a:r>
              <a:t>    SELECT AVG(Average_Processing_Time_Min) AS Global_Average FROM flipkart_warehouses</a:t>
            </a:r>
            <a:br/>
            <a:r>
              <a:t>)</a:t>
            </a:r>
            <a:br/>
            <a:r>
              <a:t>SELECT w.Warehouse_ID, w.Warehouse_Name, w.Average_Processing_Time_Min,</a:t>
            </a:r>
            <a:br/>
            <a:r>
              <a:t>       ROUND(a.Global_Average, 2) AS Global_Average </a:t>
            </a:r>
            <a:br/>
            <a:r>
              <a:t>FROM flipkart_warehouses w, Avg_Processing a </a:t>
            </a:r>
            <a:br/>
            <a:r>
              <a:t>WHERE w.Average_Processing_Time_Min &gt; a.Global_Average;</a:t>
            </a:r>
          </a:p>
        </p:txBody>
      </p:sp>
      <p:pic>
        <p:nvPicPr>
          <p:cNvPr id="7" name="Picture 6" descr="02_warehouse_processing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74F0"/>
                </a:solidFill>
              </a:defRPr>
            </a:pPr>
            <a:r>
              <a:t>FLIPKART LOGISTICS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337"/>
                </a:solidFill>
              </a:defRPr>
            </a:pPr>
            <a:r>
              <a:t>Task 5: Delivery Agent Performance &amp; Subquery Analysis (10 Marks)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1E232D"/>
          </a:solidFill>
          <a:ln>
            <a:solidFill>
              <a:srgbClr val="32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E6F0FF"/>
                </a:solidFill>
                <a:latin typeface="Consolas"/>
              </a:defRPr>
            </a:pPr>
            <a:r>
              <a:t>-- Compare average speed of top 5 vs bottom 5 agents USING SUBQUERIES</a:t>
            </a:r>
            <a:br/>
            <a:r>
              <a:t>SELECT 'Top 5 Agents' AS Category, ROUND(AVG(Avg_Speed_KMPH), 2) AS avg_speed </a:t>
            </a:r>
            <a:br/>
            <a:r>
              <a:t>FROM (</a:t>
            </a:r>
            <a:br/>
            <a:r>
              <a:t>    SELECT a.Agent_ID, a.Avg_Speed_KMPH</a:t>
            </a:r>
            <a:br/>
            <a:r>
              <a:t>    FROM flipkart_orders o</a:t>
            </a:r>
            <a:br/>
            <a:r>
              <a:t>    JOIN flipkart_deliveryagents a ON o.Agent_ID = a.Agent_ID</a:t>
            </a:r>
            <a:br/>
            <a:r>
              <a:t>    GROUP BY a.Agent_ID, a.Avg_Speed_KMPH</a:t>
            </a:r>
            <a:br/>
            <a:r>
              <a:t>    ORDER BY (SUM(CASE WHEN o.Actual_Delivery_Date &lt;= o.Expected_Delivery_Date THEN 1 ELSE 0 END) * 100.0 / COUNT(*)) DESC</a:t>
            </a:r>
            <a:br/>
            <a:r>
              <a:t>    LIMIT 5</a:t>
            </a:r>
            <a:br/>
            <a:r>
              <a:t>) AS top_agents</a:t>
            </a:r>
            <a:br/>
            <a:br/>
            <a:r>
              <a:t>UNION ALL</a:t>
            </a:r>
            <a:br/>
            <a:br/>
            <a:r>
              <a:t>SELECT 'Bottom 5 Agents', ROUND(AVG(Avg_Speed_KMPH), 2) </a:t>
            </a:r>
            <a:br/>
            <a:r>
              <a:t>FROM (</a:t>
            </a:r>
            <a:br/>
            <a:r>
              <a:t>    SELECT a.Agent_ID, a.Avg_Speed_KMPH</a:t>
            </a:r>
            <a:br/>
            <a:r>
              <a:t>    FROM flipkart_orders o</a:t>
            </a:r>
            <a:br/>
            <a:r>
              <a:t>    JOIN flipkart_deliveryagents a ON o.Agent_ID = a.Agent_ID</a:t>
            </a:r>
            <a:br/>
            <a:r>
              <a:t>    GROUP BY a.Agent_ID, a.Avg_Speed_KMPH</a:t>
            </a:r>
            <a:br/>
            <a:r>
              <a:t>    ORDER BY (SUM(CASE WHEN o.Actual_Delivery_Date &lt;= o.Expected_Delivery_Date THEN 1 ELSE 0 END) * 100.0 / COUNT(*)) ASC</a:t>
            </a:r>
            <a:br/>
            <a:r>
              <a:t>    LIMIT 5</a:t>
            </a:r>
            <a:br/>
            <a:r>
              <a:t>) AS bottom_agents;</a:t>
            </a:r>
          </a:p>
        </p:txBody>
      </p:sp>
      <p:pic>
        <p:nvPicPr>
          <p:cNvPr id="7" name="Picture 6" descr="05_agent_speed_vs_o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74F0"/>
                </a:solidFill>
              </a:defRPr>
            </a:pPr>
            <a:r>
              <a:t>FLIPKART LOGISTICS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337"/>
                </a:solidFill>
              </a:defRPr>
            </a:pPr>
            <a:r>
              <a:t>Task 6: Shipment Tracking Analytics &amp; Root Causes (10 Marks)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1E232D"/>
          </a:solidFill>
          <a:ln>
            <a:solidFill>
              <a:srgbClr val="32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E6F0FF"/>
                </a:solidFill>
                <a:latin typeface="Consolas"/>
              </a:defRPr>
            </a:pPr>
            <a:r>
              <a:t>-- For each order, list the last checkpoint and time</a:t>
            </a:r>
            <a:br/>
            <a:r>
              <a:t>SELECT t.Order_ID, t.Checkpoint, t.Checkpoint_Time AS last_checkpoint </a:t>
            </a:r>
            <a:br/>
            <a:r>
              <a:t>FROM flipkart_shipmenttracking t </a:t>
            </a:r>
            <a:br/>
            <a:r>
              <a:t>INNER JOIN (</a:t>
            </a:r>
            <a:br/>
            <a:r>
              <a:t>    SELECT Order_ID, MAX(Checkpoint_Time) AS Last_Checkpoint </a:t>
            </a:r>
            <a:br/>
            <a:r>
              <a:t>    FROM flipkart_shipmenttracking GROUP BY Order_ID</a:t>
            </a:r>
            <a:br/>
            <a:r>
              <a:t>) m ON t.Order_ID = m.Order_ID AND t.Checkpoint_Time = m.Last_Checkpoint;</a:t>
            </a:r>
            <a:br/>
            <a:br/>
            <a:r>
              <a:t>-- Most common delay reasons (excluding None)</a:t>
            </a:r>
            <a:br/>
            <a:r>
              <a:t>SELECT Delay_Reason, COUNT(*) AS Frequency </a:t>
            </a:r>
            <a:br/>
            <a:r>
              <a:t>FROM flipkart_shipmenttracking </a:t>
            </a:r>
            <a:br/>
            <a:r>
              <a:t>WHERE Delay_Reason != 'None' AND Delay_Reason IS NOT NULL </a:t>
            </a:r>
            <a:br/>
            <a:r>
              <a:t>GROUP BY Delay_Reason ORDER BY Frequency DESC;</a:t>
            </a:r>
            <a:br/>
            <a:br/>
            <a:r>
              <a:t>-- Identify orders with &gt;2 delayed checkpoints</a:t>
            </a:r>
            <a:br/>
            <a:r>
              <a:t>SELECT Order_ID, COUNT(*) AS Delay_Frequency </a:t>
            </a:r>
            <a:br/>
            <a:r>
              <a:t>FROM flipkart_shipmenttracking </a:t>
            </a:r>
            <a:br/>
            <a:r>
              <a:t>WHERE Delay_Reason != 'None' AND Delay_Reason IS NOT NULL </a:t>
            </a:r>
            <a:br/>
            <a:r>
              <a:t>GROUP BY Order_ID HAVING Delay_Frequency &gt; 2;</a:t>
            </a:r>
          </a:p>
        </p:txBody>
      </p:sp>
      <p:pic>
        <p:nvPicPr>
          <p:cNvPr id="7" name="Picture 6" descr="03_shipment_delay_root_cau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47548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74F0"/>
                </a:solidFill>
              </a:defRPr>
            </a:pPr>
            <a:r>
              <a:t>FLIPKART LOGISTICS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337"/>
                </a:solidFill>
              </a:defRPr>
            </a:pPr>
            <a:r>
              <a:t>Task 7: Advanced KPI Reporting (10 Marks)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1E232D"/>
          </a:solidFill>
          <a:ln>
            <a:solidFill>
              <a:srgbClr val="32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2120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E6F0FF"/>
                </a:solidFill>
                <a:latin typeface="Consolas"/>
              </a:defRPr>
            </a:pPr>
            <a:r>
              <a:t>-- 1. Average Delivery Delay per Region (Start_Location)</a:t>
            </a:r>
            <a:br/>
            <a:r>
              <a:t>SELECT r.Start_Location, </a:t>
            </a:r>
            <a:br/>
            <a:r>
              <a:t>       ROUND(AVG(DATEDIFF(o.Actual_Delivery_Date, o.Expected_Delivery_Date)), 2) AS avg_delay </a:t>
            </a:r>
            <a:br/>
            <a:r>
              <a:t>FROM flipkart_orders o </a:t>
            </a:r>
            <a:br/>
            <a:r>
              <a:t>JOIN flipkart_routes r ON r.Route_ID = o.Route_ID </a:t>
            </a:r>
            <a:br/>
            <a:r>
              <a:t>GROUP BY r.Start_Location ORDER BY avg_delay DESC;</a:t>
            </a:r>
            <a:br/>
            <a:br/>
            <a:r>
              <a:t>-- 2. On-Time Delivery % = (Total On-Time Deliveries / Total Deliveries) * 100</a:t>
            </a:r>
            <a:br/>
            <a:r>
              <a:t>SELECT ROUND((SUM(CASE WHEN Actual_Delivery_Date &lt;= Expected_Delivery_Date THEN 1 ELSE 0 END) * 100.0 / COUNT(*)), 2) </a:t>
            </a:r>
            <a:br/>
            <a:r>
              <a:t>       AS On_Time_Percentage </a:t>
            </a:r>
            <a:br/>
            <a:r>
              <a:t>FROM flipkart_orders;</a:t>
            </a:r>
            <a:br/>
            <a:br/>
            <a:r>
              <a:t>-- 3. Average Traffic Delay per Route</a:t>
            </a:r>
            <a:br/>
            <a:r>
              <a:t>SELECT Route_ID, ROUND(AVG(Traffic_Delay_Min), 2) AS Average_Traffic_Delay </a:t>
            </a:r>
            <a:br/>
            <a:r>
              <a:t>FROM flipkart_routes GROUP BY Route_ID ORDER BY Average_Traffic_Delay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280160"/>
            <a:ext cx="4846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417320"/>
            <a:ext cx="4480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2337"/>
                </a:solidFill>
              </a:defRPr>
            </a:pPr>
            <a:r>
              <a:t>Executive Logistics Scorecard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📊 Key Quantitative Findings: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Total Orders Analyzed: 300 Orders (₹7,619,897.98 Total Value)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Overall On-Time Delivery Rate: 72.67% (218 / 300 orders)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Delayed Orders Rate: 27.33% (82 orders late)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Average Order Turnaround: 4.51 Days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Average Delay Across Late Orders: 1.66 Days (~40 hours)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🌍 Regional Performance Hierarchy: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Hyderabad: 0.54 days avg delay (68.99% on-time)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Ahmedabad: 0.52 days avg delay (69.70% on-time)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Pune: 0.50 days avg delay (71.74% on-time)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Bengaluru: 0.24 days avg delay (81.58% on-time)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Lucknow: 0.15 days avg delay (84.62% on-time - Top Region)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74F0"/>
                </a:solidFill>
              </a:defRPr>
            </a:pPr>
            <a:r>
              <a:t>FLIPKART LOGISTICS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337"/>
                </a:solidFill>
              </a:defRPr>
            </a:pPr>
            <a:r>
              <a:t>Strategic Business Recommendations for Flipkart Logistics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2337"/>
                </a:solidFill>
              </a:defRPr>
            </a:pPr>
            <a:r>
              <a:t>1. Route Optimization &amp; Transit Strategy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Split Bottleneck Corridors into Relay Segments: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Route RT_13 (Hyderabad -&gt; Jaipur) experiences 54.5% delay over 1,078 km.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Introduce staged driver relays at Nagpur/Bhopal hubs to eliminate fatigue.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Dynamic Night-Window Dispatches: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Traffic causes 56.41% of all in-transit delays.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Shift interstate trunk runs to 10 PM - 5 AM off-peak windows to reduce transit times by up to 35%.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2337"/>
                </a:solidFill>
              </a:defRPr>
            </a:pPr>
            <a:r>
              <a:t>2. Warehouse &amp; Fleet Equalization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Modernize High-Latency Fulfillment Hubs: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Chennai (WH_10: 117 min) and Hyderabad (WH_09: 110 min) exceed network benchmark (79.4 min) by &gt;30 mins.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Implement wave-based automated parcel sortation.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Workload Rebalancing for Delivery Drivers: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Bottom 5 agents achieve only 40.7% on-time despite driving at 41 km/h.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- Rebalance high-density urban routes and provide GPS turn-by-turn guidance apps.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74F0"/>
                </a:solidFill>
              </a:defRPr>
            </a:pPr>
            <a:r>
              <a:t>FLIPKART LOGISTICS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337"/>
                </a:solidFill>
              </a:defRPr>
            </a:pPr>
            <a:r>
              <a:t>Task 8 &amp; 9: Project Submission &amp; Video Walkthrough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2337"/>
                </a:solidFill>
              </a:defRPr>
            </a:pPr>
            <a:r>
              <a:t>Task 9: Video Presentation Details (10 Marks)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🎥 Video Walkthrough Links (Face Visible, 5-9 Mins):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Loom Walkthrough Part 1: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https://www.loom.com/share/519a939ef711457d970e77f466b2729b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(Covers problem understanding, schema architecture, data cleaning, and delay distribution)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Loom Walkthrough Part 2: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https://www.loom.com/share/2bce798c27254d4db2faf6ce44ddacb4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(Covers route optimization, warehouse bottlenecks, driver cohorts, and strategic recommendations)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Google Drive Backup Link: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[Add Google Drive Video Link Here as per guidelines]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2337"/>
                </a:solidFill>
              </a:defRPr>
            </a:pPr>
            <a:r>
              <a:t>Submission Checklist &amp; Guidelines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📁 Submission Package Structure: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• Flipkart_Logistics_Optimization.sql (Clean MySQL script)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• Flipkart_Logistics_Optimization.pptx (Presentation Deck)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  • Logistics_Optimization_for_Delivery_Routes_Flipkart.pdf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✓ All Tasks 1 to 7 fully solved with exact MySQL queries.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✓ Queries, result tables, and high-resolution charts integrated.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✓ Cleaned date standardizations and edge-case imputations.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✓ Packaged in submission .zip folder as required by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